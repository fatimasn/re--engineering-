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9" r:id="rId11"/>
    <p:sldId id="270" r:id="rId12"/>
    <p:sldId id="271" r:id="rId13"/>
    <p:sldId id="263" r:id="rId14"/>
    <p:sldId id="264" r:id="rId15"/>
    <p:sldId id="265" r:id="rId16"/>
    <p:sldId id="266" r:id="rId17"/>
    <p:sldId id="267" r:id="rId18"/>
    <p:sldId id="272" r:id="rId19"/>
    <p:sldId id="273" r:id="rId20"/>
    <p:sldId id="274" r:id="rId21"/>
    <p:sldId id="275" r:id="rId22"/>
    <p:sldId id="276" r:id="rId23"/>
    <p:sldId id="278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6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1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6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4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3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9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6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95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10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22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28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16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68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7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8A87ED-313F-4232-82A8-049BD0F9FB6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48AA8-95B7-40B2-A966-D7FD1548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39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2F83-B03B-4F95-BD7E-51A64A113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0288" y="1771652"/>
            <a:ext cx="5993295" cy="1657349"/>
          </a:xfrm>
        </p:spPr>
        <p:txBody>
          <a:bodyPr/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Course Title: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Mining Source Code Repositories 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Course Code: 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Instructor:  </a:t>
            </a:r>
            <a:r>
              <a:rPr lang="en-US" sz="2100" b="1" dirty="0">
                <a:latin typeface="Arial" panose="020B0604020202020204" pitchFamily="34" charset="0"/>
                <a:ea typeface="Quattrocento Sans"/>
                <a:cs typeface="Arial" panose="020B0604020202020204" pitchFamily="34" charset="0"/>
                <a:sym typeface="Quattrocento Sans"/>
              </a:rPr>
              <a:t>Dr. Fatima Sabir</a:t>
            </a:r>
            <a:br>
              <a:rPr lang="en-US" sz="2100" dirty="0"/>
            </a:br>
            <a:endParaRPr lang="en-US" sz="2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6428D-3738-4B51-BFC5-8A766ABE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0216" y="4405520"/>
            <a:ext cx="7134785" cy="6808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Punjab university college of information and technology(</a:t>
            </a:r>
            <a:r>
              <a:rPr lang="en-US" dirty="0" err="1"/>
              <a:t>PUcit</a:t>
            </a:r>
            <a:r>
              <a:rPr lang="en-US" dirty="0"/>
              <a:t>)</a:t>
            </a:r>
          </a:p>
        </p:txBody>
      </p:sp>
      <p:pic>
        <p:nvPicPr>
          <p:cNvPr id="4" name="Google Shape;446;p73" descr="No photo description available.">
            <a:extLst>
              <a:ext uri="{FF2B5EF4-FFF2-40B4-BE49-F238E27FC236}">
                <a16:creationId xmlns:a16="http://schemas.microsoft.com/office/drawing/2014/main" id="{D458DD3E-5231-483B-8CBF-1AD3AD0564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6834" y="1771650"/>
            <a:ext cx="1431940" cy="1366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02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B656-79E3-4B02-B965-F454EE4AC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07826" cy="1655762"/>
          </a:xfrm>
        </p:spPr>
        <p:txBody>
          <a:bodyPr/>
          <a:lstStyle/>
          <a:p>
            <a:r>
              <a:rPr lang="en-US" sz="6600" b="1" dirty="0"/>
              <a:t>Topic Modeling in MSR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113A2-1BAF-4D1F-BF40-E66EA22ED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93774"/>
            <a:ext cx="9144000" cy="2064026"/>
          </a:xfrm>
        </p:spPr>
        <p:txBody>
          <a:bodyPr>
            <a:normAutofit/>
          </a:bodyPr>
          <a:lstStyle/>
          <a:p>
            <a:r>
              <a:rPr lang="en-US" sz="4000" dirty="0"/>
              <a:t>Latent Dirichlet Allocation (LDA)</a:t>
            </a:r>
          </a:p>
        </p:txBody>
      </p:sp>
    </p:spTree>
    <p:extLst>
      <p:ext uri="{BB962C8B-B14F-4D97-AF65-F5344CB8AC3E}">
        <p14:creationId xmlns:p14="http://schemas.microsoft.com/office/powerpoint/2010/main" val="3281003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E66E-F514-4C85-AAD9-7B55635B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MSR Without Topic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E758F-A038-4662-B9E4-3F7A1D92D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repositories contain huge amounts of text, such as:</a:t>
            </a:r>
          </a:p>
          <a:p>
            <a:pPr lvl="1"/>
            <a:r>
              <a:rPr lang="en-US" dirty="0"/>
              <a:t>Thousands of GitHub issues</a:t>
            </a:r>
          </a:p>
          <a:p>
            <a:pPr lvl="1"/>
            <a:r>
              <a:rPr lang="en-US" dirty="0"/>
              <a:t>Hundreds of developer discussions</a:t>
            </a:r>
          </a:p>
          <a:p>
            <a:pPr lvl="1"/>
            <a:r>
              <a:rPr lang="en-US" dirty="0"/>
              <a:t>Long commit histories</a:t>
            </a:r>
          </a:p>
          <a:p>
            <a:pPr marL="0" indent="0">
              <a:buNone/>
            </a:pPr>
            <a:r>
              <a:rPr lang="en-US" dirty="0"/>
              <a:t>Manual reading is impossible because:</a:t>
            </a:r>
          </a:p>
          <a:p>
            <a:pPr lvl="1"/>
            <a:r>
              <a:rPr lang="en-US" dirty="0"/>
              <a:t>Data is very large (big text corpora)</a:t>
            </a:r>
          </a:p>
          <a:p>
            <a:pPr lvl="1"/>
            <a:r>
              <a:rPr lang="en-US" dirty="0"/>
              <a:t>Text is unstructured</a:t>
            </a:r>
          </a:p>
          <a:p>
            <a:pPr lvl="1"/>
            <a:r>
              <a:rPr lang="en-US" dirty="0"/>
              <a:t>Problems are mixed together</a:t>
            </a:r>
          </a:p>
          <a:p>
            <a:pPr marL="0" indent="0">
              <a:buNone/>
            </a:pPr>
            <a:r>
              <a:rPr lang="en-US" dirty="0"/>
              <a:t>So, Need an automatic technique to discover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5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272D-2A0F-4EDE-AB2C-3B63E372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D77A3-F740-4266-AD62-382658F84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537252"/>
            <a:ext cx="11201331" cy="4711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Topic modeling is an unsupervised machine learning technique used to automatically identify latent topics from a collection of text documents, where each topic is represented by a group of frequently co-occurring words.</a:t>
            </a:r>
          </a:p>
          <a:p>
            <a:pPr lvl="1"/>
            <a:r>
              <a:rPr lang="en-US" dirty="0"/>
              <a:t>Topic modeling finds what people are talking about</a:t>
            </a:r>
          </a:p>
          <a:p>
            <a:pPr lvl="1"/>
            <a:r>
              <a:rPr lang="en-US" dirty="0"/>
              <a:t>It does not need labels</a:t>
            </a:r>
          </a:p>
          <a:p>
            <a:pPr lvl="1"/>
            <a:r>
              <a:rPr lang="en-US" dirty="0"/>
              <a:t>It discovers patterns based on word usage</a:t>
            </a:r>
          </a:p>
          <a:p>
            <a:pPr lvl="1"/>
            <a:r>
              <a:rPr lang="en-US" dirty="0"/>
              <a:t>Handles large-scale unlabeled data</a:t>
            </a:r>
          </a:p>
          <a:p>
            <a:pPr lvl="1"/>
            <a:r>
              <a:rPr lang="en-US" dirty="0"/>
              <a:t>Works without predefined categories</a:t>
            </a:r>
          </a:p>
          <a:p>
            <a:pPr lvl="1"/>
            <a:r>
              <a:rPr lang="en-US" dirty="0"/>
              <a:t>Extracts knowledge from textual repositories</a:t>
            </a:r>
          </a:p>
        </p:txBody>
      </p:sp>
      <p:sp>
        <p:nvSpPr>
          <p:cNvPr id="6" name="AutoShape 6" descr="Topic modeling in NLP: Approaches, implementation and use cases">
            <a:extLst>
              <a:ext uri="{FF2B5EF4-FFF2-40B4-BE49-F238E27FC236}">
                <a16:creationId xmlns:a16="http://schemas.microsoft.com/office/drawing/2014/main" id="{6BA777D3-06D1-49AF-B344-D6909BEC5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2" name="Picture 14" descr="Topic Modeling in Python : Using Latent Dirichlet Allocation (LDA) | by  Prashanth Sinivasan | Medium">
            <a:extLst>
              <a:ext uri="{FF2B5EF4-FFF2-40B4-BE49-F238E27FC236}">
                <a16:creationId xmlns:a16="http://schemas.microsoft.com/office/drawing/2014/main" id="{1490A282-D769-4367-94C0-43DF3743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103" y="3138079"/>
            <a:ext cx="5158340" cy="29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56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5816-D67B-4D06-BCCA-4B89DBC0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Topic?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E5EB-8426-455E-978E-037C4FEC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97496"/>
            <a:ext cx="9404723" cy="47509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topic</a:t>
            </a:r>
            <a:r>
              <a:rPr lang="en-US" dirty="0"/>
              <a:t> is:</a:t>
            </a:r>
          </a:p>
          <a:p>
            <a:pPr lvl="1"/>
            <a:r>
              <a:rPr lang="en-US" dirty="0"/>
              <a:t>A group of words that frequently appear together</a:t>
            </a:r>
          </a:p>
          <a:p>
            <a:pPr lvl="1"/>
            <a:r>
              <a:rPr lang="en-US" dirty="0"/>
              <a:t>A probability distribution over words</a:t>
            </a:r>
          </a:p>
          <a:p>
            <a:pPr lvl="1"/>
            <a:r>
              <a:rPr lang="en-US" dirty="0"/>
              <a:t>Not a single word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lvl="1"/>
            <a:r>
              <a:rPr lang="en-US" dirty="0"/>
              <a:t>bug, error, crash, exception, fail</a:t>
            </a:r>
          </a:p>
          <a:p>
            <a:pPr marL="0" indent="0">
              <a:buNone/>
            </a:pPr>
            <a:r>
              <a:rPr lang="en-US" dirty="0"/>
              <a:t>This topic represents a bug-related concern.</a:t>
            </a:r>
          </a:p>
        </p:txBody>
      </p:sp>
      <p:pic>
        <p:nvPicPr>
          <p:cNvPr id="1026" name="Picture 2" descr="Topic Modeling - Types, Working, Applications - GeeksforGeeks">
            <a:extLst>
              <a:ext uri="{FF2B5EF4-FFF2-40B4-BE49-F238E27FC236}">
                <a16:creationId xmlns:a16="http://schemas.microsoft.com/office/drawing/2014/main" id="{A10A5B00-9242-47D2-91EC-22AE02C76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35" y="2552699"/>
            <a:ext cx="5618077" cy="264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2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8905-04D0-47F0-9A48-CEB8488F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Topic Modeling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EDB8-E64D-4536-BC20-0CCA40032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9404723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topic modeling techniques are:</a:t>
            </a:r>
          </a:p>
          <a:p>
            <a:r>
              <a:rPr lang="en-US" dirty="0"/>
              <a:t>Latent Dirichlet Allocation (LDA) </a:t>
            </a:r>
          </a:p>
          <a:p>
            <a:r>
              <a:rPr lang="en-US" dirty="0"/>
              <a:t>Latent Semantic Analysis (LSA)</a:t>
            </a:r>
          </a:p>
          <a:p>
            <a:r>
              <a:rPr lang="en-US" dirty="0"/>
              <a:t>Non-negative Matrix Factorization (NMF)</a:t>
            </a:r>
          </a:p>
          <a:p>
            <a:pPr marL="0" indent="0">
              <a:buNone/>
            </a:pPr>
            <a:r>
              <a:rPr lang="en-US" dirty="0"/>
              <a:t>LDA is the most widely used technique in MSR.</a:t>
            </a:r>
          </a:p>
          <a:p>
            <a:endParaRPr lang="en-US" dirty="0"/>
          </a:p>
        </p:txBody>
      </p:sp>
      <p:pic>
        <p:nvPicPr>
          <p:cNvPr id="3074" name="Picture 2" descr="RETRACTED ARTICLE: Implementation and comparison of topic modeling  techniques based on user reviews in e-commerce recommendations | Journal of  Ambient Intelligence and Humanized Computing | Springer Nature Link">
            <a:extLst>
              <a:ext uri="{FF2B5EF4-FFF2-40B4-BE49-F238E27FC236}">
                <a16:creationId xmlns:a16="http://schemas.microsoft.com/office/drawing/2014/main" id="{10BB49AD-3130-4B8B-ADEF-5999ADD7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483" y="2800593"/>
            <a:ext cx="5062744" cy="270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75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A6AA-153C-4073-9C68-79BC8F24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Latent Dirichlet Allocation (LDA)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3FC3-B90C-4B79-8E2B-812A443A9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3" y="1470992"/>
            <a:ext cx="6374294" cy="477740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Latent Dirichlet Allocation (LDA)</a:t>
            </a:r>
            <a:r>
              <a:rPr lang="en-US" dirty="0"/>
              <a:t> is a probabilistic topic modeling algorithm that represents each document as a mixture of topics and each topic as a mixture of words</a:t>
            </a:r>
          </a:p>
          <a:p>
            <a:pPr marL="0" indent="0" algn="just">
              <a:buNone/>
            </a:pPr>
            <a:r>
              <a:rPr lang="en-US" dirty="0"/>
              <a:t>LDA assumes:</a:t>
            </a:r>
          </a:p>
          <a:p>
            <a:pPr lvl="1" algn="just"/>
            <a:r>
              <a:rPr lang="en-US" dirty="0"/>
              <a:t>A document can talk about multiple topics</a:t>
            </a:r>
          </a:p>
          <a:p>
            <a:pPr lvl="1" algn="just"/>
            <a:r>
              <a:rPr lang="en-US" dirty="0"/>
              <a:t>Topics are hidden (latent)</a:t>
            </a:r>
          </a:p>
          <a:p>
            <a:pPr lvl="1" algn="just"/>
            <a:r>
              <a:rPr lang="en-US" dirty="0"/>
              <a:t>Words appear because of topics</a:t>
            </a:r>
          </a:p>
          <a:p>
            <a:pPr marL="0" indent="0" algn="just">
              <a:buNone/>
            </a:pPr>
            <a:r>
              <a:rPr lang="en-US" b="1" dirty="0"/>
              <a:t>Why Is It Called “Latent Dirichlet Allocation”?</a:t>
            </a:r>
          </a:p>
          <a:p>
            <a:pPr lvl="1" algn="just"/>
            <a:r>
              <a:rPr lang="en-US" b="1" dirty="0"/>
              <a:t>Latent</a:t>
            </a:r>
            <a:r>
              <a:rPr lang="en-US" dirty="0"/>
              <a:t> → topics are hidden, not directly observed</a:t>
            </a:r>
          </a:p>
          <a:p>
            <a:pPr lvl="1" algn="just"/>
            <a:r>
              <a:rPr lang="en-US" b="1" dirty="0"/>
              <a:t>Allocation</a:t>
            </a:r>
            <a:r>
              <a:rPr lang="en-US" dirty="0"/>
              <a:t> → words are allocated to topics</a:t>
            </a:r>
          </a:p>
          <a:p>
            <a:pPr lvl="1" algn="just"/>
            <a:r>
              <a:rPr lang="en-US" b="1" dirty="0"/>
              <a:t>Dirichlet</a:t>
            </a:r>
            <a:r>
              <a:rPr lang="en-US" dirty="0"/>
              <a:t> → probability distributions are drawn from Dirichlet distributions</a:t>
            </a:r>
          </a:p>
          <a:p>
            <a:pPr lvl="1"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4098" name="Picture 2" descr="Evaluating the Coverage and Depth of Latent Dirichlet Allocation Topic Model  in Comparison with Human Coding of Qualitative Data: The Case of Education  Research">
            <a:extLst>
              <a:ext uri="{FF2B5EF4-FFF2-40B4-BE49-F238E27FC236}">
                <a16:creationId xmlns:a16="http://schemas.microsoft.com/office/drawing/2014/main" id="{4A1A7479-6D4C-4F4E-A6FD-73B1DFD90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417" y="2006676"/>
            <a:ext cx="4987173" cy="321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84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65E3-4A7C-4D69-BF61-99B31BAE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Latent Dirichlet Allocation (LDA)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FA16D-A0E1-4A20-AB85-83EF0AB05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487"/>
            <a:ext cx="10515600" cy="4732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LDA makes three key assumptions:</a:t>
            </a:r>
          </a:p>
          <a:p>
            <a:pPr lvl="1"/>
            <a:r>
              <a:rPr lang="en-US" dirty="0"/>
              <a:t>Each document is a mixture of topics</a:t>
            </a:r>
          </a:p>
          <a:p>
            <a:pPr lvl="1"/>
            <a:r>
              <a:rPr lang="en-US" dirty="0"/>
              <a:t>Each topic is a mixture of words</a:t>
            </a:r>
          </a:p>
          <a:p>
            <a:pPr lvl="1"/>
            <a:r>
              <a:rPr lang="en-US" dirty="0"/>
              <a:t>Topic proportions differ from document to document</a:t>
            </a:r>
          </a:p>
          <a:p>
            <a:pPr marL="0" indent="0">
              <a:buNone/>
            </a:pPr>
            <a:r>
              <a:rPr lang="en-US" b="1" dirty="0"/>
              <a:t>How LDA Works</a:t>
            </a:r>
          </a:p>
          <a:p>
            <a:pPr marL="0" indent="0">
              <a:buNone/>
            </a:pPr>
            <a:r>
              <a:rPr lang="en-US" dirty="0"/>
              <a:t>For each document:</a:t>
            </a:r>
          </a:p>
          <a:p>
            <a:r>
              <a:rPr lang="en-US" dirty="0"/>
              <a:t>Choose topic proportions</a:t>
            </a:r>
          </a:p>
          <a:p>
            <a:r>
              <a:rPr lang="en-US" dirty="0"/>
              <a:t>For each word:</a:t>
            </a:r>
          </a:p>
          <a:p>
            <a:pPr lvl="1"/>
            <a:r>
              <a:rPr lang="en-US" dirty="0"/>
              <a:t>Select a topic</a:t>
            </a:r>
          </a:p>
          <a:p>
            <a:pPr lvl="1"/>
            <a:r>
              <a:rPr lang="en-US" dirty="0"/>
              <a:t>Select a word from that topic</a:t>
            </a:r>
          </a:p>
          <a:p>
            <a:r>
              <a:rPr lang="en-US" dirty="0"/>
              <a:t>This process is repeated for all documents.</a:t>
            </a:r>
          </a:p>
          <a:p>
            <a:endParaRPr lang="en-US" b="1" dirty="0"/>
          </a:p>
        </p:txBody>
      </p:sp>
      <p:pic>
        <p:nvPicPr>
          <p:cNvPr id="4" name="Picture 2" descr="Evaluating the Coverage and Depth of Latent Dirichlet Allocation Topic Model  in Comparison with Human Coding of Qualitative Data: The Case of Education  Research">
            <a:extLst>
              <a:ext uri="{FF2B5EF4-FFF2-40B4-BE49-F238E27FC236}">
                <a16:creationId xmlns:a16="http://schemas.microsoft.com/office/drawing/2014/main" id="{263E284D-E858-4CA9-AFE8-E6FC2B0C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9" y="3194943"/>
            <a:ext cx="4987173" cy="321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40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0B16-910B-44FE-AF5B-ED0A511A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Coherence in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C9D5-34A3-4E65-ABC9-FAC3D129D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1062252" cy="46662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Topic coherence is a measure of how semantically meaningful and interpretable the words within a topic are, based on how frequently those words co-occur in the dataset.</a:t>
            </a:r>
          </a:p>
          <a:p>
            <a:pPr marL="0" indent="0">
              <a:buNone/>
            </a:pPr>
            <a:r>
              <a:rPr lang="en-US" dirty="0"/>
              <a:t>LDA always produces topics, but:</a:t>
            </a:r>
          </a:p>
          <a:p>
            <a:pPr lvl="1"/>
            <a:r>
              <a:rPr lang="en-US" dirty="0"/>
              <a:t>Some topics are meaningful</a:t>
            </a:r>
          </a:p>
          <a:p>
            <a:pPr lvl="1"/>
            <a:r>
              <a:rPr lang="en-US" dirty="0"/>
              <a:t>Some topics are random or noisy</a:t>
            </a:r>
          </a:p>
          <a:p>
            <a:pPr marL="0" indent="0">
              <a:buNone/>
            </a:pPr>
            <a:r>
              <a:rPr lang="en-US" dirty="0"/>
              <a:t>Topic coherence helps to:</a:t>
            </a:r>
          </a:p>
          <a:p>
            <a:pPr lvl="1"/>
            <a:r>
              <a:rPr lang="en-US" dirty="0"/>
              <a:t>Evaluate topic quality</a:t>
            </a:r>
          </a:p>
          <a:p>
            <a:pPr lvl="1"/>
            <a:r>
              <a:rPr lang="en-US" dirty="0"/>
              <a:t>Compare different LDA models</a:t>
            </a:r>
          </a:p>
          <a:p>
            <a:pPr lvl="1"/>
            <a:r>
              <a:rPr lang="en-US" dirty="0"/>
              <a:t>Choose the best number of topics (K)</a:t>
            </a:r>
          </a:p>
          <a:p>
            <a:pPr marL="0" indent="0">
              <a:buNone/>
            </a:pPr>
            <a:r>
              <a:rPr lang="en-US" b="1" dirty="0"/>
              <a:t>Higher coherence → better topic quality</a:t>
            </a:r>
          </a:p>
        </p:txBody>
      </p:sp>
      <p:pic>
        <p:nvPicPr>
          <p:cNvPr id="5124" name="Picture 4" descr="Optimal Number of Topics vs Coherence Score. Number of Topics (k) are... |  Download Scientific Diagram">
            <a:extLst>
              <a:ext uri="{FF2B5EF4-FFF2-40B4-BE49-F238E27FC236}">
                <a16:creationId xmlns:a16="http://schemas.microsoft.com/office/drawing/2014/main" id="{D8BE7EBC-2287-4CE7-A088-80EFD40A7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32" y="2809460"/>
            <a:ext cx="5169038" cy="310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19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FA42-2A95-4EA1-BD6A-BA989B61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“K” in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DC76-3336-4B81-A86D-B54E29C5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504"/>
            <a:ext cx="10515600" cy="45413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</a:t>
            </a:r>
            <a:r>
              <a:rPr lang="en-US" dirty="0"/>
              <a:t> is the </a:t>
            </a:r>
            <a:r>
              <a:rPr lang="en-US" b="1" dirty="0"/>
              <a:t>number of topics</a:t>
            </a:r>
            <a:r>
              <a:rPr lang="en-US" dirty="0"/>
              <a:t> that an LDA model is instructed to discover from a collection of documents.</a:t>
            </a:r>
          </a:p>
          <a:p>
            <a:pPr marL="0" indent="0">
              <a:buNone/>
            </a:pPr>
            <a:r>
              <a:rPr lang="en-US" b="1" dirty="0"/>
              <a:t>Why K is Important</a:t>
            </a:r>
          </a:p>
          <a:p>
            <a:pPr lvl="1"/>
            <a:r>
              <a:rPr lang="en-US" dirty="0"/>
              <a:t>Choosing K determines:</a:t>
            </a:r>
          </a:p>
          <a:p>
            <a:pPr lvl="1"/>
            <a:r>
              <a:rPr lang="en-US" dirty="0"/>
              <a:t>How many themes will be discovered</a:t>
            </a:r>
          </a:p>
          <a:p>
            <a:pPr lvl="1"/>
            <a:r>
              <a:rPr lang="en-US" dirty="0"/>
              <a:t>How detailed or broad the topics will be</a:t>
            </a:r>
          </a:p>
          <a:p>
            <a:pPr marL="0" indent="0">
              <a:buNone/>
            </a:pPr>
            <a:r>
              <a:rPr lang="en-US" dirty="0"/>
              <a:t>Incorrect K leads to poor topic modeling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07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7551-64A3-425A-BD27-61D13107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“K” in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6034-5DF5-4D8C-9150-399340237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Effect of Different K Values</a:t>
            </a:r>
          </a:p>
          <a:p>
            <a:pPr marL="0" indent="0">
              <a:buNone/>
            </a:pPr>
            <a:r>
              <a:rPr lang="en-US" b="1" dirty="0"/>
              <a:t>Small K (e.g., K = 5)</a:t>
            </a:r>
          </a:p>
          <a:p>
            <a:r>
              <a:rPr lang="en-US" dirty="0"/>
              <a:t>Topics are very broad</a:t>
            </a:r>
          </a:p>
          <a:p>
            <a:r>
              <a:rPr lang="en-US" dirty="0"/>
              <a:t>Different concerns get mixed</a:t>
            </a:r>
          </a:p>
          <a:p>
            <a:r>
              <a:rPr lang="en-US" dirty="0"/>
              <a:t>Low interpretability</a:t>
            </a:r>
          </a:p>
          <a:p>
            <a:pPr marL="0" indent="0">
              <a:buNone/>
            </a:pPr>
            <a:r>
              <a:rPr lang="en-US" b="1" dirty="0"/>
              <a:t>Large K (e.g., K = 50)</a:t>
            </a:r>
          </a:p>
          <a:p>
            <a:r>
              <a:rPr lang="en-US" dirty="0"/>
              <a:t>Topics become fragmented</a:t>
            </a:r>
          </a:p>
          <a:p>
            <a:r>
              <a:rPr lang="en-US" dirty="0"/>
              <a:t>Similar topics split unnecessarily</a:t>
            </a:r>
          </a:p>
          <a:p>
            <a:r>
              <a:rPr lang="en-US" dirty="0"/>
              <a:t>Hard to interpret</a:t>
            </a:r>
          </a:p>
          <a:p>
            <a:pPr marL="0" indent="0">
              <a:buNone/>
            </a:pPr>
            <a:r>
              <a:rPr lang="en-US" dirty="0"/>
              <a:t>Goal: </a:t>
            </a:r>
            <a:r>
              <a:rPr lang="en-US" b="1" dirty="0"/>
              <a:t>Balance between too broad and too fragmented topics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95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B84D-D73B-400D-B8F6-B647C5F6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2701"/>
          </a:xfrm>
        </p:spPr>
        <p:txBody>
          <a:bodyPr/>
          <a:lstStyle/>
          <a:p>
            <a:r>
              <a:rPr lang="en-US" b="1" dirty="0"/>
              <a:t>Latent Dirichlet Allocation (LDA)</a:t>
            </a:r>
            <a:br>
              <a:rPr lang="en-US" b="1" dirty="0"/>
            </a:br>
            <a:r>
              <a:rPr lang="en-US" sz="3600" b="1" dirty="0"/>
              <a:t>K and Topic Coherence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A1CE0D-D8C8-42DD-B8C1-38D5AEE07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104489"/>
              </p:ext>
            </p:extLst>
          </p:nvPr>
        </p:nvGraphicFramePr>
        <p:xfrm>
          <a:off x="838200" y="2080591"/>
          <a:ext cx="10515600" cy="34190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009837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4138563"/>
                    </a:ext>
                  </a:extLst>
                </a:gridCol>
              </a:tblGrid>
              <a:tr h="683812">
                <a:tc>
                  <a:txBody>
                    <a:bodyPr/>
                    <a:lstStyle/>
                    <a:p>
                      <a:r>
                        <a:rPr lang="en-US" b="1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Topic Coherence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308189"/>
                  </a:ext>
                </a:extLst>
              </a:tr>
              <a:tr h="683812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144102"/>
                  </a:ext>
                </a:extLst>
              </a:tr>
              <a:tr h="683812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816128"/>
                  </a:ext>
                </a:extLst>
              </a:tr>
              <a:tr h="683812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796525"/>
                  </a:ext>
                </a:extLst>
              </a:tr>
              <a:tr h="683812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13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2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F77E-4927-49E3-8B75-1002028E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Latent Dirichlet Allocation (LDA)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BADF-458C-4F1D-A86E-B11A9D0A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496"/>
            <a:ext cx="10515600" cy="46794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Input Required for LDA</a:t>
            </a:r>
          </a:p>
          <a:p>
            <a:pPr marL="0" indent="0">
              <a:buNone/>
            </a:pPr>
            <a:r>
              <a:rPr lang="en-US" dirty="0"/>
              <a:t>Before applying LDA, we must have:</a:t>
            </a:r>
          </a:p>
          <a:p>
            <a:r>
              <a:rPr lang="en-US" dirty="0"/>
              <a:t>Cleaned text</a:t>
            </a:r>
          </a:p>
          <a:p>
            <a:r>
              <a:rPr lang="en-US" dirty="0"/>
              <a:t>Tokenized words</a:t>
            </a:r>
          </a:p>
          <a:p>
            <a:r>
              <a:rPr lang="en-US" dirty="0"/>
              <a:t>Stop-words removed</a:t>
            </a:r>
          </a:p>
          <a:p>
            <a:r>
              <a:rPr lang="en-US" dirty="0"/>
              <a:t>Stemmed or lemmatized tokens</a:t>
            </a:r>
          </a:p>
          <a:p>
            <a:r>
              <a:rPr lang="en-US" dirty="0"/>
              <a:t>LDA does NOT work on raw text.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4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9E98-23E3-462C-B2A1-96D2C4D3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Latent Dirichlet Allocation (LDA)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E3E47-8081-4A13-9A96-F3775B51A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009"/>
            <a:ext cx="10515600" cy="45999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Output of LDA</a:t>
            </a:r>
          </a:p>
          <a:p>
            <a:pPr marL="0" indent="0">
              <a:buNone/>
            </a:pPr>
            <a:r>
              <a:rPr lang="en-US" dirty="0"/>
              <a:t>LDA produces three main outputs:</a:t>
            </a:r>
          </a:p>
          <a:p>
            <a:pPr marL="0" indent="0">
              <a:buNone/>
            </a:pPr>
            <a:r>
              <a:rPr lang="en-US" b="1" dirty="0"/>
              <a:t>1. Topics</a:t>
            </a:r>
          </a:p>
          <a:p>
            <a:pPr lvl="1"/>
            <a:r>
              <a:rPr lang="en-US" dirty="0"/>
              <a:t>List of words per topic</a:t>
            </a:r>
          </a:p>
          <a:p>
            <a:pPr marL="0" indent="0">
              <a:buNone/>
            </a:pPr>
            <a:r>
              <a:rPr lang="en-US" b="1" dirty="0"/>
              <a:t>2. Topic–Word Distribution</a:t>
            </a:r>
          </a:p>
          <a:p>
            <a:pPr lvl="1"/>
            <a:r>
              <a:rPr lang="en-US" dirty="0"/>
              <a:t>Probability of each word in a topic</a:t>
            </a:r>
          </a:p>
          <a:p>
            <a:pPr marL="0" indent="0">
              <a:buNone/>
            </a:pPr>
            <a:r>
              <a:rPr lang="en-US" b="1" dirty="0"/>
              <a:t>3. Document–Topic Distribution</a:t>
            </a:r>
          </a:p>
          <a:p>
            <a:pPr lvl="1"/>
            <a:r>
              <a:rPr lang="en-US" dirty="0"/>
              <a:t>Probability of each topic in a document</a:t>
            </a:r>
          </a:p>
          <a:p>
            <a:pPr marL="0" indent="0">
              <a:buNone/>
            </a:pPr>
            <a:r>
              <a:rPr lang="en-US" b="1" dirty="0"/>
              <a:t>    Example of output</a:t>
            </a:r>
          </a:p>
          <a:p>
            <a:pPr marL="0" indent="0">
              <a:buNone/>
            </a:pPr>
            <a:r>
              <a:rPr lang="en-US" b="1" dirty="0"/>
              <a:t>	Topic 1(BUG)</a:t>
            </a:r>
          </a:p>
          <a:p>
            <a:pPr lvl="2"/>
            <a:r>
              <a:rPr lang="en-US" dirty="0"/>
              <a:t>bug, fix, error, crash, exception</a:t>
            </a:r>
          </a:p>
          <a:p>
            <a:pPr marL="0" indent="0">
              <a:buNone/>
            </a:pPr>
            <a:r>
              <a:rPr lang="en-US" b="1" dirty="0"/>
              <a:t>	Topic 2(Performance)</a:t>
            </a:r>
          </a:p>
          <a:p>
            <a:pPr lvl="2"/>
            <a:r>
              <a:rPr lang="en-US" dirty="0"/>
              <a:t>memory, leak, speed, slow, optimize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25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3068-166C-4000-A71B-4D489BB9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Latent Dirichlet Allocation (LDA)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1608-4C32-4142-BF1C-2DCB9E36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Use of LDA in MSR</a:t>
            </a:r>
          </a:p>
          <a:p>
            <a:pPr marL="0" indent="0">
              <a:buNone/>
            </a:pPr>
            <a:r>
              <a:rPr lang="en-US" dirty="0"/>
              <a:t>LDA is used in MSR to:</a:t>
            </a:r>
          </a:p>
          <a:p>
            <a:r>
              <a:rPr lang="en-US" dirty="0"/>
              <a:t>Categorize GitHub issues</a:t>
            </a:r>
          </a:p>
          <a:p>
            <a:r>
              <a:rPr lang="en-US" dirty="0"/>
              <a:t>Analyze commit messages</a:t>
            </a:r>
          </a:p>
          <a:p>
            <a:r>
              <a:rPr lang="en-US" dirty="0"/>
              <a:t>Understand developer discussions</a:t>
            </a:r>
          </a:p>
          <a:p>
            <a:r>
              <a:rPr lang="en-US" dirty="0"/>
              <a:t>Discover recurring software problems</a:t>
            </a:r>
          </a:p>
          <a:p>
            <a:r>
              <a:rPr lang="en-US" dirty="0"/>
              <a:t>Study software evolution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1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7CDC-9464-4ECD-B9BF-B6030791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55223"/>
          </a:xfrm>
        </p:spPr>
        <p:txBody>
          <a:bodyPr/>
          <a:lstStyle/>
          <a:p>
            <a:r>
              <a:rPr lang="en-US" dirty="0"/>
              <a:t>Topic Modeling vs Manual Classification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7F3E80-02B8-49D9-BA30-23E01A26A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033637"/>
              </p:ext>
            </p:extLst>
          </p:nvPr>
        </p:nvGraphicFramePr>
        <p:xfrm>
          <a:off x="838200" y="2398644"/>
          <a:ext cx="10515600" cy="284835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28596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61148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7328317"/>
                    </a:ext>
                  </a:extLst>
                </a:gridCol>
              </a:tblGrid>
              <a:tr h="569671">
                <a:tc>
                  <a:txBody>
                    <a:bodyPr/>
                    <a:lstStyle/>
                    <a:p>
                      <a:r>
                        <a:rPr lang="en-US" b="1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Topic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747696"/>
                  </a:ext>
                </a:extLst>
              </a:tr>
              <a:tr h="569671">
                <a:tc>
                  <a:txBody>
                    <a:bodyPr/>
                    <a:lstStyle/>
                    <a:p>
                      <a:r>
                        <a:rPr lang="en-US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333910"/>
                  </a:ext>
                </a:extLst>
              </a:tr>
              <a:tr h="569671">
                <a:tc>
                  <a:txBody>
                    <a:bodyPr/>
                    <a:lstStyle/>
                    <a:p>
                      <a:r>
                        <a:rPr lang="en-US" dirty="0"/>
                        <a:t>Human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719000"/>
                  </a:ext>
                </a:extLst>
              </a:tr>
              <a:tr h="569671">
                <a:tc>
                  <a:txBody>
                    <a:bodyPr/>
                    <a:lstStyle/>
                    <a:p>
                      <a:r>
                        <a:rPr lang="en-US"/>
                        <a:t>Effort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836890"/>
                  </a:ext>
                </a:extLst>
              </a:tr>
              <a:tr h="569671">
                <a:tc>
                  <a:txBody>
                    <a:bodyPr/>
                    <a:lstStyle/>
                    <a:p>
                      <a:r>
                        <a:rPr lang="en-US" dirty="0"/>
                        <a:t>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42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763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9EBC-CE1E-4C01-A0B0-B39CD11B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LDA -&gt; Pre-processing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FDB402-0F71-473C-8830-89605FE1A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209" y="1789043"/>
            <a:ext cx="9766852" cy="365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3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C5499-6F53-4059-B32B-0CA279A5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 LDA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AA3BB0-6440-43AF-8401-89B241986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470" y="1825624"/>
            <a:ext cx="8693426" cy="466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91D1-E1B4-46A2-AED4-489DCA3A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 LDA Model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6D433C-533D-405F-95A5-2E1D9D0E7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850" y="1690689"/>
            <a:ext cx="10020300" cy="425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4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293E-6263-4391-92E1-7DA294B7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LDA -&gt; Keywords of Topics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59B315-A4D9-481B-90C5-8C5F6B721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4087"/>
            <a:ext cx="10515600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53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AD88-2720-42D8-935C-1A774869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LDA -&gt; Coherence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45A702-F7C4-4388-8F4F-B4E10C86E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661" y="1690688"/>
            <a:ext cx="10151165" cy="42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22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C42F-88B3-4DA5-87C3-33FF0BEF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CB546C-38D2-46D1-B347-54815DA45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262" y="1690689"/>
            <a:ext cx="10277475" cy="44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05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DB3D-3BF5-45C9-B9AB-A206078B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after LDA 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27D8-D1B5-41F2-9D8E-A106D761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K = 10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9E2BA-64DA-442D-A1BD-FC65B306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0922"/>
            <a:ext cx="10515600" cy="360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2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7575-0204-4125-976F-BED15B6B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45244-4CE6-45AE-86CD-4A19C969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757"/>
            <a:ext cx="10515600" cy="461320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Blei</a:t>
            </a:r>
            <a:r>
              <a:rPr lang="en-US" b="1" dirty="0"/>
              <a:t>, D. M., Ng, A. Y., &amp; Jordan, M. I. (2003).</a:t>
            </a:r>
            <a:br>
              <a:rPr lang="en-US" dirty="0"/>
            </a:br>
            <a:r>
              <a:rPr lang="en-US" i="1" dirty="0"/>
              <a:t>Latent Dirichlet Allocation.</a:t>
            </a:r>
            <a:br>
              <a:rPr lang="en-US" dirty="0"/>
            </a:br>
            <a:r>
              <a:rPr lang="en-US" b="1" dirty="0"/>
              <a:t>Journal of Machine Learning Research (JMLR), 3</a:t>
            </a:r>
            <a:r>
              <a:rPr lang="en-US" dirty="0"/>
              <a:t>, 993–1022.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Murgia</a:t>
            </a:r>
            <a:r>
              <a:rPr lang="en-US" b="1" dirty="0"/>
              <a:t>, A., </a:t>
            </a:r>
            <a:r>
              <a:rPr lang="en-US" b="1" dirty="0" err="1"/>
              <a:t>Tourwé</a:t>
            </a:r>
            <a:r>
              <a:rPr lang="en-US" b="1" dirty="0"/>
              <a:t>, T., </a:t>
            </a:r>
            <a:r>
              <a:rPr lang="en-US" b="1" dirty="0" err="1"/>
              <a:t>Claes</a:t>
            </a:r>
            <a:r>
              <a:rPr lang="en-US" b="1" dirty="0"/>
              <a:t>, M., </a:t>
            </a:r>
            <a:r>
              <a:rPr lang="en-US" b="1" dirty="0" err="1"/>
              <a:t>Demeyer</a:t>
            </a:r>
            <a:r>
              <a:rPr lang="en-US" b="1" dirty="0"/>
              <a:t>, S., &amp; </a:t>
            </a:r>
            <a:r>
              <a:rPr lang="en-US" b="1" dirty="0" err="1"/>
              <a:t>Dejaeger</a:t>
            </a:r>
            <a:r>
              <a:rPr lang="en-US" b="1" dirty="0"/>
              <a:t>, K. (2015).</a:t>
            </a:r>
            <a:br>
              <a:rPr lang="en-US" dirty="0"/>
            </a:br>
            <a:r>
              <a:rPr lang="en-US" i="1" dirty="0"/>
              <a:t>An Empirical Comparison of Four Topic Modeling Algorithms on Stack Overflow.</a:t>
            </a:r>
            <a:br>
              <a:rPr lang="en-US" dirty="0"/>
            </a:br>
            <a:r>
              <a:rPr lang="en-US" i="1" dirty="0"/>
              <a:t>Empirical Software Engineering, 20(6), 1563–1610.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Murgia</a:t>
            </a:r>
            <a:r>
              <a:rPr lang="en-US" b="1" dirty="0"/>
              <a:t>, A., </a:t>
            </a:r>
            <a:r>
              <a:rPr lang="en-US" b="1" dirty="0" err="1"/>
              <a:t>Tourwé</a:t>
            </a:r>
            <a:r>
              <a:rPr lang="en-US" b="1" dirty="0"/>
              <a:t>, T., </a:t>
            </a:r>
            <a:r>
              <a:rPr lang="en-US" b="1" dirty="0" err="1"/>
              <a:t>Claes</a:t>
            </a:r>
            <a:r>
              <a:rPr lang="en-US" b="1" dirty="0"/>
              <a:t>, M., </a:t>
            </a:r>
            <a:r>
              <a:rPr lang="en-US" b="1" dirty="0" err="1"/>
              <a:t>Demeyer</a:t>
            </a:r>
            <a:r>
              <a:rPr lang="en-US" b="1" dirty="0"/>
              <a:t>, S., &amp; </a:t>
            </a:r>
            <a:r>
              <a:rPr lang="en-US" b="1" dirty="0" err="1"/>
              <a:t>Dejaeger</a:t>
            </a:r>
            <a:r>
              <a:rPr lang="en-US" b="1" dirty="0"/>
              <a:t>, K. (2015).</a:t>
            </a:r>
            <a:br>
              <a:rPr lang="en-US" dirty="0"/>
            </a:br>
            <a:r>
              <a:rPr lang="en-US" i="1" dirty="0"/>
              <a:t>An Empirical Comparison of Four Topic Modeling Algorithms on Stack Overflow.</a:t>
            </a:r>
            <a:br>
              <a:rPr lang="en-US" dirty="0"/>
            </a:br>
            <a:r>
              <a:rPr lang="en-US" i="1" dirty="0"/>
              <a:t>Empirical Software Engineering, 20(6), 1563–1610.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27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</TotalTime>
  <Words>959</Words>
  <Application>Microsoft Office PowerPoint</Application>
  <PresentationFormat>Widescreen</PresentationFormat>
  <Paragraphs>156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Quattrocento Sans</vt:lpstr>
      <vt:lpstr>Wingdings 3</vt:lpstr>
      <vt:lpstr>Ion</vt:lpstr>
      <vt:lpstr>Course Title: Mining Source Code Repositories  Course Code:  Instructor:  Dr. Fatima Sabir </vt:lpstr>
      <vt:lpstr>Topic Modeling in MSR</vt:lpstr>
      <vt:lpstr>Problem in MSR Without Topic Modeling</vt:lpstr>
      <vt:lpstr>Topic Modeling</vt:lpstr>
      <vt:lpstr>What Is a Topic?</vt:lpstr>
      <vt:lpstr>Common Topic Modeling Techniques</vt:lpstr>
      <vt:lpstr>Latent Dirichlet Allocation (LDA)</vt:lpstr>
      <vt:lpstr>Latent Dirichlet Allocation (LDA)</vt:lpstr>
      <vt:lpstr>Topic Coherence in LDA</vt:lpstr>
      <vt:lpstr>“K” in LDA</vt:lpstr>
      <vt:lpstr>“K” in LDA</vt:lpstr>
      <vt:lpstr>Latent Dirichlet Allocation (LDA) K and Topic Coherence</vt:lpstr>
      <vt:lpstr>Latent Dirichlet Allocation (LDA)</vt:lpstr>
      <vt:lpstr>Latent Dirichlet Allocation (LDA)</vt:lpstr>
      <vt:lpstr>Latent Dirichlet Allocation (LDA)</vt:lpstr>
      <vt:lpstr>Topic Modeling vs Manual Classification</vt:lpstr>
      <vt:lpstr>LDA -&gt; Pre-processing</vt:lpstr>
      <vt:lpstr>Train LDA Model</vt:lpstr>
      <vt:lpstr>Train LDA Model</vt:lpstr>
      <vt:lpstr>LDA -&gt; Keywords of Topics</vt:lpstr>
      <vt:lpstr>LDA -&gt; Coherence</vt:lpstr>
      <vt:lpstr>LDA</vt:lpstr>
      <vt:lpstr>Topics after LDA model implementation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Modeling in MSR</dc:title>
  <dc:creator>Windows 10</dc:creator>
  <cp:lastModifiedBy>Windows 10</cp:lastModifiedBy>
  <cp:revision>26</cp:revision>
  <dcterms:created xsi:type="dcterms:W3CDTF">2026-02-07T21:50:49Z</dcterms:created>
  <dcterms:modified xsi:type="dcterms:W3CDTF">2026-02-21T20:22:00Z</dcterms:modified>
</cp:coreProperties>
</file>